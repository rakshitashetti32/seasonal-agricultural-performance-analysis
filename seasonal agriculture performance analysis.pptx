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5033" autoAdjust="0"/>
  </p:normalViewPr>
  <p:slideViewPr>
    <p:cSldViewPr snapToGrid="0">
      <p:cViewPr varScale="1">
        <p:scale>
          <a:sx n="66" d="100"/>
          <a:sy n="66" d="100"/>
        </p:scale>
        <p:origin x="668" y="3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62771" y="5176633"/>
            <a:ext cx="3316210" cy="923330"/>
          </a:xfrm>
          <a:prstGeom prst="rect">
            <a:avLst/>
          </a:prstGeom>
          <a:noFill/>
        </p:spPr>
        <p:txBody>
          <a:bodyPr wrap="square" rtlCol="0">
            <a:spAutoFit/>
          </a:bodyPr>
          <a:lstStyle/>
          <a:p>
            <a:r>
              <a:rPr lang="en-US" b="1" dirty="0"/>
              <a:t>AICTE STU ID :STU697afee31f08d1769668323</a:t>
            </a:r>
          </a:p>
        </p:txBody>
      </p:sp>
      <p:sp>
        <p:nvSpPr>
          <p:cNvPr id="5" name="TextBox 4">
            <a:extLst>
              <a:ext uri="{FF2B5EF4-FFF2-40B4-BE49-F238E27FC236}">
                <a16:creationId xmlns:a16="http://schemas.microsoft.com/office/drawing/2014/main" id="{A0FC1F8A-526E-4A51-848E-322F8ACF0D42}"/>
              </a:ext>
            </a:extLst>
          </p:cNvPr>
          <p:cNvSpPr txBox="1"/>
          <p:nvPr/>
        </p:nvSpPr>
        <p:spPr>
          <a:xfrm>
            <a:off x="-87951" y="3888857"/>
            <a:ext cx="3670940" cy="1200329"/>
          </a:xfrm>
          <a:prstGeom prst="rect">
            <a:avLst/>
          </a:prstGeom>
          <a:noFill/>
        </p:spPr>
        <p:txBody>
          <a:bodyPr wrap="square" rtlCol="0">
            <a:spAutoFit/>
          </a:bodyPr>
          <a:lstStyle/>
          <a:p>
            <a:pPr algn="r"/>
            <a:r>
              <a:rPr lang="en-US" b="0" dirty="0">
                <a:solidFill>
                  <a:schemeClr val="tx1"/>
                </a:solidFill>
              </a:rPr>
              <a:t>     [Rakshita Manjunath Shetti</a:t>
            </a:r>
            <a:endParaRPr lang="en-IN" b="0" dirty="0">
              <a:solidFill>
                <a:schemeClr val="tx1"/>
              </a:solidFill>
            </a:endParaRPr>
          </a:p>
          <a:p>
            <a:pPr algn="r"/>
            <a:r>
              <a:rPr lang="en-US" b="0" dirty="0">
                <a:solidFill>
                  <a:schemeClr val="tx1"/>
                </a:solidFill>
              </a:rPr>
              <a:t>        College Name-MVJ College of Engineering ]</a:t>
            </a:r>
            <a:endParaRPr lang="en-IN" b="0" dirty="0">
              <a:solidFill>
                <a:schemeClr val="tx1"/>
              </a:solidFill>
            </a:endParaRPr>
          </a:p>
          <a:p>
            <a:endParaRPr lang="en-IN" dirty="0"/>
          </a:p>
        </p:txBody>
      </p:sp>
      <p:sp>
        <p:nvSpPr>
          <p:cNvPr id="7" name="TextBox 6">
            <a:extLst>
              <a:ext uri="{FF2B5EF4-FFF2-40B4-BE49-F238E27FC236}">
                <a16:creationId xmlns:a16="http://schemas.microsoft.com/office/drawing/2014/main" id="{86C170EF-59D9-4C0E-86AD-D6F03DDE6F8C}"/>
              </a:ext>
            </a:extLst>
          </p:cNvPr>
          <p:cNvSpPr txBox="1"/>
          <p:nvPr/>
        </p:nvSpPr>
        <p:spPr>
          <a:xfrm>
            <a:off x="3349591" y="2788740"/>
            <a:ext cx="7526955" cy="1077218"/>
          </a:xfrm>
          <a:prstGeom prst="rect">
            <a:avLst/>
          </a:prstGeom>
          <a:noFill/>
        </p:spPr>
        <p:txBody>
          <a:bodyPr wrap="square" rtlCol="0">
            <a:spAutoFit/>
          </a:bodyPr>
          <a:lstStyle/>
          <a:p>
            <a:r>
              <a:rPr lang="en-IN" sz="3200" dirty="0"/>
              <a:t>Seasonal</a:t>
            </a:r>
            <a:r>
              <a:rPr lang="en-IN" dirty="0"/>
              <a:t> </a:t>
            </a:r>
            <a:r>
              <a:rPr lang="en-IN" sz="3200" dirty="0"/>
              <a:t>Agriculture Performance Analysis</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98466" y="1323894"/>
            <a:ext cx="7070737" cy="4871349"/>
          </a:xfrm>
        </p:spPr>
        <p:txBody>
          <a:bodyPr vert="horz" lIns="91440" tIns="45720" rIns="91440" bIns="45720" rtlCol="0" anchor="t">
            <a:noAutofit/>
          </a:bodyPr>
          <a:lstStyle/>
          <a:p>
            <a:pPr>
              <a:lnSpc>
                <a:spcPct val="150000"/>
              </a:lnSpc>
            </a:pPr>
            <a:r>
              <a:rPr lang="en-GB"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GB" sz="1800" dirty="0" err="1"/>
              <a:t>analyze</a:t>
            </a:r>
            <a:r>
              <a:rPr lang="en-GB" sz="1800" dirty="0"/>
              <a:t> the given agricultural dataset and investigate seasonal differences in agricultural performance by identifying meaningful patterns, trends, relationships and variations within the available data. </a:t>
            </a:r>
            <a:endParaRPr lang="en-IN" sz="1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DA88ABE8-2639-478D-9A71-D6DD078E6D93}"/>
              </a:ext>
            </a:extLst>
          </p:cNvPr>
          <p:cNvSpPr txBox="1"/>
          <p:nvPr/>
        </p:nvSpPr>
        <p:spPr>
          <a:xfrm>
            <a:off x="675957" y="1809550"/>
            <a:ext cx="6276109" cy="3780971"/>
          </a:xfrm>
          <a:prstGeom prst="rect">
            <a:avLst/>
          </a:prstGeom>
          <a:noFill/>
        </p:spPr>
        <p:txBody>
          <a:bodyPr wrap="square" rtlCol="0">
            <a:spAutoFit/>
          </a:bodyPr>
          <a:lstStyle/>
          <a:p>
            <a:pPr>
              <a:lnSpc>
                <a:spcPct val="150000"/>
              </a:lnSpc>
            </a:pPr>
            <a:r>
              <a:rPr lang="en-GB" dirty="0"/>
              <a:t>This project </a:t>
            </a:r>
            <a:r>
              <a:rPr lang="en-GB" dirty="0" err="1"/>
              <a:t>analyzes</a:t>
            </a:r>
            <a:r>
              <a:rPr lang="en-GB" dirty="0"/>
              <a:t> </a:t>
            </a:r>
            <a:r>
              <a:rPr lang="en-GB" b="1" dirty="0"/>
              <a:t>Seasonal Agricultural Performance</a:t>
            </a:r>
            <a:r>
              <a:rPr lang="en-GB" dirty="0"/>
              <a:t> using agricultural data to understand how factors such as </a:t>
            </a:r>
            <a:r>
              <a:rPr lang="en-GB" b="1" dirty="0"/>
              <a:t>crop type, season, rainfall, temperature, irrigation, yield, production, water usage, and profit</a:t>
            </a:r>
            <a:r>
              <a:rPr lang="en-GB" dirty="0"/>
              <a:t> are related to farming performance. The project includes data cleaning, statistical analysis, and visualizations to identify patterns and seasonal differences. The findings help understand crop productivity and profitability and support better data-driven agricultural decision-making.</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CF5888F5-1FCC-4EF5-8B6D-5F2523A15341}"/>
              </a:ext>
            </a:extLst>
          </p:cNvPr>
          <p:cNvSpPr>
            <a:spLocks noGrp="1" noChangeArrowheads="1"/>
          </p:cNvSpPr>
          <p:nvPr>
            <p:ph type="body" sz="quarter" idx="12"/>
          </p:nvPr>
        </p:nvSpPr>
        <p:spPr bwMode="auto">
          <a:xfrm>
            <a:off x="721359" y="1900828"/>
            <a:ext cx="9389878" cy="2534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Farmers</a:t>
            </a:r>
            <a:r>
              <a:rPr kumimoji="0" lang="en-US" altLang="en-US" sz="1800" b="0" i="0" u="none" strike="noStrike" cap="none" normalizeH="0" baseline="0" dirty="0">
                <a:ln>
                  <a:noFill/>
                </a:ln>
                <a:solidFill>
                  <a:schemeClr val="tx1"/>
                </a:solidFill>
                <a:effectLst/>
                <a:latin typeface="+mj-lt"/>
              </a:rPr>
              <a:t> – To understand crop yield, seasonal performance, and profitability.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Agricultural Analysts</a:t>
            </a:r>
            <a:r>
              <a:rPr kumimoji="0" lang="en-US" altLang="en-US" sz="1800" b="0" i="0" u="none" strike="noStrike" cap="none" normalizeH="0" baseline="0" dirty="0">
                <a:ln>
                  <a:noFill/>
                </a:ln>
                <a:solidFill>
                  <a:schemeClr val="tx1"/>
                </a:solidFill>
                <a:effectLst/>
                <a:latin typeface="+mj-lt"/>
              </a:rPr>
              <a:t> – To analyze agricultural trends and identify important patterns.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Agricultural Organizations and Policymakers</a:t>
            </a:r>
            <a:r>
              <a:rPr kumimoji="0" lang="en-US" altLang="en-US" sz="1800" b="0" i="0" u="none" strike="noStrike" cap="none" normalizeH="0" baseline="0" dirty="0">
                <a:ln>
                  <a:noFill/>
                </a:ln>
                <a:solidFill>
                  <a:schemeClr val="tx1"/>
                </a:solidFill>
                <a:effectLst/>
                <a:latin typeface="+mj-lt"/>
              </a:rPr>
              <a:t> – To support data-driven agricultural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planning and decision-making.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Researchers and Students</a:t>
            </a:r>
            <a:r>
              <a:rPr kumimoji="0" lang="en-US" altLang="en-US" sz="1800" b="0" i="0" u="none" strike="noStrike" cap="none" normalizeH="0" baseline="0" dirty="0">
                <a:ln>
                  <a:noFill/>
                </a:ln>
                <a:solidFill>
                  <a:schemeClr val="tx1"/>
                </a:solidFill>
                <a:effectLst/>
                <a:latin typeface="+mj-lt"/>
              </a:rPr>
              <a:t> – To study relationships between environmental factors and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agricultural performance.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62362A89-0AB8-4C2D-989F-FF90CF25417C}"/>
              </a:ext>
            </a:extLst>
          </p:cNvPr>
          <p:cNvSpPr>
            <a:spLocks noGrp="1" noChangeArrowheads="1"/>
          </p:cNvSpPr>
          <p:nvPr>
            <p:ph type="body" sz="quarter" idx="12"/>
          </p:nvPr>
        </p:nvSpPr>
        <p:spPr bwMode="auto">
          <a:xfrm>
            <a:off x="660399" y="1544784"/>
            <a:ext cx="8782789" cy="2534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Python</a:t>
            </a:r>
            <a:r>
              <a:rPr kumimoji="0" lang="en-US" altLang="en-US" sz="1800" b="0" i="0" u="none" strike="noStrike" cap="none" normalizeH="0" baseline="0" dirty="0">
                <a:ln>
                  <a:noFill/>
                </a:ln>
                <a:solidFill>
                  <a:schemeClr val="tx1"/>
                </a:solidFill>
                <a:effectLst/>
                <a:latin typeface="+mj-lt"/>
              </a:rPr>
              <a:t> – Data analysis and processing </a:t>
            </a:r>
          </a:p>
          <a:p>
            <a:pPr marL="0" marR="0" lvl="0" indent="0" algn="l"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Pandas</a:t>
            </a:r>
            <a:r>
              <a:rPr kumimoji="0" lang="en-US" altLang="en-US" sz="1800" b="0" i="0" u="none" strike="noStrike" cap="none" normalizeH="0" baseline="0" dirty="0">
                <a:ln>
                  <a:noFill/>
                </a:ln>
                <a:solidFill>
                  <a:schemeClr val="tx1"/>
                </a:solidFill>
                <a:effectLst/>
                <a:latin typeface="+mj-lt"/>
              </a:rPr>
              <a:t> – Data cleaning and manipulation </a:t>
            </a:r>
          </a:p>
          <a:p>
            <a:pPr marL="0" marR="0" lvl="0" indent="0" algn="l"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NumPy</a:t>
            </a:r>
            <a:r>
              <a:rPr kumimoji="0" lang="en-US" altLang="en-US" sz="1800" b="0" i="0" u="none" strike="noStrike" cap="none" normalizeH="0" baseline="0" dirty="0">
                <a:ln>
                  <a:noFill/>
                </a:ln>
                <a:solidFill>
                  <a:schemeClr val="tx1"/>
                </a:solidFill>
                <a:effectLst/>
                <a:latin typeface="+mj-lt"/>
              </a:rPr>
              <a:t> – Numerical operations </a:t>
            </a:r>
          </a:p>
          <a:p>
            <a:pPr marL="0" marR="0" lvl="0" indent="0" algn="l"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Matplotlib</a:t>
            </a:r>
            <a:r>
              <a:rPr kumimoji="0" lang="en-US" altLang="en-US" sz="1800" b="0" i="0" u="none" strike="noStrike" cap="none" normalizeH="0" baseline="0" dirty="0">
                <a:ln>
                  <a:noFill/>
                </a:ln>
                <a:solidFill>
                  <a:schemeClr val="tx1"/>
                </a:solidFill>
                <a:effectLst/>
                <a:latin typeface="+mj-lt"/>
              </a:rPr>
              <a:t> – Data visualization </a:t>
            </a:r>
          </a:p>
          <a:p>
            <a:pPr marL="0" marR="0" lvl="0" indent="0" algn="l"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Seaborn</a:t>
            </a:r>
            <a:r>
              <a:rPr kumimoji="0" lang="en-US" altLang="en-US" sz="1800" b="0" i="0" u="none" strike="noStrike" cap="none" normalizeH="0" baseline="0" dirty="0">
                <a:ln>
                  <a:noFill/>
                </a:ln>
                <a:solidFill>
                  <a:schemeClr val="tx1"/>
                </a:solidFill>
                <a:effectLst/>
                <a:latin typeface="+mj-lt"/>
              </a:rPr>
              <a:t> – Statistical data visualization </a:t>
            </a:r>
          </a:p>
          <a:p>
            <a:pPr marL="0" marR="0" lvl="0" indent="0" algn="l"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mj-lt"/>
              </a:rPr>
              <a:t>Jupyter</a:t>
            </a:r>
            <a:r>
              <a:rPr kumimoji="0" lang="en-US" altLang="en-US" sz="1800" b="1" i="0" u="none" strike="noStrike" cap="none" normalizeH="0" baseline="0" dirty="0">
                <a:ln>
                  <a:noFill/>
                </a:ln>
                <a:solidFill>
                  <a:schemeClr val="tx1"/>
                </a:solidFill>
                <a:effectLst/>
                <a:latin typeface="+mj-lt"/>
              </a:rPr>
              <a:t> Notebook (.</a:t>
            </a:r>
            <a:r>
              <a:rPr kumimoji="0" lang="en-US" altLang="en-US" sz="1800" b="1" i="0" u="none" strike="noStrike" cap="none" normalizeH="0" baseline="0" dirty="0" err="1">
                <a:ln>
                  <a:noFill/>
                </a:ln>
                <a:solidFill>
                  <a:schemeClr val="tx1"/>
                </a:solidFill>
                <a:effectLst/>
                <a:latin typeface="+mj-lt"/>
              </a:rPr>
              <a:t>ipynb</a:t>
            </a:r>
            <a:r>
              <a:rPr kumimoji="0" lang="en-US" altLang="en-US" sz="1800" b="1" i="0" u="none" strike="noStrike" cap="none" normalizeH="0" baseline="0" dirty="0">
                <a:ln>
                  <a:noFill/>
                </a:ln>
                <a:solidFill>
                  <a:schemeClr val="tx1"/>
                </a:solidFill>
                <a:effectLst/>
                <a:latin typeface="+mj-lt"/>
              </a:rPr>
              <a:t>) in VS Code</a:t>
            </a:r>
            <a:r>
              <a:rPr kumimoji="0" lang="en-US" altLang="en-US" sz="1800" b="0" i="0" u="none" strike="noStrike" cap="none" normalizeH="0" baseline="0" dirty="0">
                <a:ln>
                  <a:noFill/>
                </a:ln>
                <a:solidFill>
                  <a:schemeClr val="tx1"/>
                </a:solidFill>
                <a:effectLst/>
                <a:latin typeface="+mj-lt"/>
              </a:rPr>
              <a:t> – Writing and executing the analysis code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GB" dirty="0"/>
              <a:t>1. Average Yield Across Seasons</a:t>
            </a:r>
            <a:endParaRPr lang="en-IN" dirty="0"/>
          </a:p>
        </p:txBody>
      </p:sp>
      <p:pic>
        <p:nvPicPr>
          <p:cNvPr id="9" name="Picture 8">
            <a:extLst>
              <a:ext uri="{FF2B5EF4-FFF2-40B4-BE49-F238E27FC236}">
                <a16:creationId xmlns:a16="http://schemas.microsoft.com/office/drawing/2014/main" id="{89A5AB27-C31A-4282-8FBA-5A23EF84D5F4}"/>
              </a:ext>
            </a:extLst>
          </p:cNvPr>
          <p:cNvPicPr>
            <a:picLocks noChangeAspect="1"/>
          </p:cNvPicPr>
          <p:nvPr/>
        </p:nvPicPr>
        <p:blipFill>
          <a:blip r:embed="rId3"/>
          <a:stretch>
            <a:fillRect/>
          </a:stretch>
        </p:blipFill>
        <p:spPr>
          <a:xfrm>
            <a:off x="1002888" y="2041452"/>
            <a:ext cx="3632387" cy="2907335"/>
          </a:xfrm>
          <a:prstGeom prst="rect">
            <a:avLst/>
          </a:prstGeom>
        </p:spPr>
      </p:pic>
      <p:sp>
        <p:nvSpPr>
          <p:cNvPr id="11" name="TextBox 10">
            <a:extLst>
              <a:ext uri="{FF2B5EF4-FFF2-40B4-BE49-F238E27FC236}">
                <a16:creationId xmlns:a16="http://schemas.microsoft.com/office/drawing/2014/main" id="{63DF87E5-C5A6-40FE-B794-8D4BA6C41A98}"/>
              </a:ext>
            </a:extLst>
          </p:cNvPr>
          <p:cNvSpPr txBox="1"/>
          <p:nvPr/>
        </p:nvSpPr>
        <p:spPr>
          <a:xfrm>
            <a:off x="1002888" y="5225257"/>
            <a:ext cx="8014454" cy="1200329"/>
          </a:xfrm>
          <a:prstGeom prst="rect">
            <a:avLst/>
          </a:prstGeom>
          <a:noFill/>
        </p:spPr>
        <p:txBody>
          <a:bodyPr wrap="square" rtlCol="0">
            <a:spAutoFit/>
          </a:bodyPr>
          <a:lstStyle/>
          <a:p>
            <a:r>
              <a:rPr lang="en-GB" b="1" dirty="0"/>
              <a:t>Explanation:</a:t>
            </a:r>
            <a:br>
              <a:rPr lang="en-GB" dirty="0"/>
            </a:br>
            <a:r>
              <a:rPr lang="en-GB" dirty="0"/>
              <a:t>Kharif showed the highest average yield, followed by Rabi and Zaid. This indicates that crop productivity varied across different seasons.</a:t>
            </a:r>
          </a:p>
          <a:p>
            <a:endParaRPr lang="en-IN" dirty="0"/>
          </a:p>
        </p:txBody>
      </p:sp>
      <p:pic>
        <p:nvPicPr>
          <p:cNvPr id="13" name="Picture 12">
            <a:extLst>
              <a:ext uri="{FF2B5EF4-FFF2-40B4-BE49-F238E27FC236}">
                <a16:creationId xmlns:a16="http://schemas.microsoft.com/office/drawing/2014/main" id="{B6071661-093F-45A2-A7CB-0ED4EF1B95E6}"/>
              </a:ext>
            </a:extLst>
          </p:cNvPr>
          <p:cNvPicPr>
            <a:picLocks noChangeAspect="1"/>
          </p:cNvPicPr>
          <p:nvPr/>
        </p:nvPicPr>
        <p:blipFill>
          <a:blip r:embed="rId4"/>
          <a:stretch>
            <a:fillRect/>
          </a:stretch>
        </p:blipFill>
        <p:spPr>
          <a:xfrm>
            <a:off x="4853340" y="1883689"/>
            <a:ext cx="4512719" cy="322285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201586"/>
            <a:ext cx="4275138" cy="477520"/>
          </a:xfrm>
        </p:spPr>
        <p:txBody>
          <a:bodyPr/>
          <a:lstStyle/>
          <a:p>
            <a:pPr marL="0" indent="0">
              <a:buNone/>
            </a:pPr>
            <a:r>
              <a:rPr lang="en-GB" dirty="0"/>
              <a:t>2. </a:t>
            </a:r>
            <a:r>
              <a:rPr lang="en-IN" dirty="0"/>
              <a:t>Average Profit Across Seasons</a:t>
            </a:r>
          </a:p>
        </p:txBody>
      </p:sp>
      <p:pic>
        <p:nvPicPr>
          <p:cNvPr id="3" name="Picture 2">
            <a:extLst>
              <a:ext uri="{FF2B5EF4-FFF2-40B4-BE49-F238E27FC236}">
                <a16:creationId xmlns:a16="http://schemas.microsoft.com/office/drawing/2014/main" id="{CEDBF12D-6867-4554-A58D-BC6425D7384C}"/>
              </a:ext>
            </a:extLst>
          </p:cNvPr>
          <p:cNvPicPr>
            <a:picLocks noChangeAspect="1"/>
          </p:cNvPicPr>
          <p:nvPr/>
        </p:nvPicPr>
        <p:blipFill>
          <a:blip r:embed="rId3"/>
          <a:stretch>
            <a:fillRect/>
          </a:stretch>
        </p:blipFill>
        <p:spPr>
          <a:xfrm>
            <a:off x="807164" y="1798927"/>
            <a:ext cx="3835597" cy="2787793"/>
          </a:xfrm>
          <a:prstGeom prst="rect">
            <a:avLst/>
          </a:prstGeom>
        </p:spPr>
      </p:pic>
      <p:sp>
        <p:nvSpPr>
          <p:cNvPr id="6" name="TextBox 5">
            <a:extLst>
              <a:ext uri="{FF2B5EF4-FFF2-40B4-BE49-F238E27FC236}">
                <a16:creationId xmlns:a16="http://schemas.microsoft.com/office/drawing/2014/main" id="{7A616509-3C81-4AFB-9500-FC2E3DD40C81}"/>
              </a:ext>
            </a:extLst>
          </p:cNvPr>
          <p:cNvSpPr txBox="1"/>
          <p:nvPr/>
        </p:nvSpPr>
        <p:spPr>
          <a:xfrm>
            <a:off x="675957" y="4779251"/>
            <a:ext cx="8641298" cy="1200329"/>
          </a:xfrm>
          <a:prstGeom prst="rect">
            <a:avLst/>
          </a:prstGeom>
          <a:noFill/>
        </p:spPr>
        <p:txBody>
          <a:bodyPr wrap="square" rtlCol="0">
            <a:spAutoFit/>
          </a:bodyPr>
          <a:lstStyle/>
          <a:p>
            <a:r>
              <a:rPr lang="en-GB" dirty="0"/>
              <a:t>The graph compares the average profit across different seasons. It shows that profitability varies by season, with some seasons generating higher average profits than others. This analysis helps identify the seasonal differences in the economic performance of agriculture.</a:t>
            </a:r>
            <a:endParaRPr lang="en-IN" dirty="0"/>
          </a:p>
        </p:txBody>
      </p:sp>
      <p:pic>
        <p:nvPicPr>
          <p:cNvPr id="11" name="Picture 10">
            <a:extLst>
              <a:ext uri="{FF2B5EF4-FFF2-40B4-BE49-F238E27FC236}">
                <a16:creationId xmlns:a16="http://schemas.microsoft.com/office/drawing/2014/main" id="{5DCDE886-A43E-408C-8AD4-6E6559DA382B}"/>
              </a:ext>
            </a:extLst>
          </p:cNvPr>
          <p:cNvPicPr>
            <a:picLocks noChangeAspect="1"/>
          </p:cNvPicPr>
          <p:nvPr/>
        </p:nvPicPr>
        <p:blipFill>
          <a:blip r:embed="rId4"/>
          <a:stretch>
            <a:fillRect/>
          </a:stretch>
        </p:blipFill>
        <p:spPr>
          <a:xfrm>
            <a:off x="5234638" y="1679107"/>
            <a:ext cx="4275139" cy="290761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IN" dirty="0"/>
              <a:t>3. Rainfall Distribution:</a:t>
            </a:r>
          </a:p>
        </p:txBody>
      </p:sp>
      <p:pic>
        <p:nvPicPr>
          <p:cNvPr id="3" name="Picture 2">
            <a:extLst>
              <a:ext uri="{FF2B5EF4-FFF2-40B4-BE49-F238E27FC236}">
                <a16:creationId xmlns:a16="http://schemas.microsoft.com/office/drawing/2014/main" id="{ACE7F43D-0E96-4C42-89D4-CF2272AFDB99}"/>
              </a:ext>
            </a:extLst>
          </p:cNvPr>
          <p:cNvPicPr>
            <a:picLocks noChangeAspect="1"/>
          </p:cNvPicPr>
          <p:nvPr/>
        </p:nvPicPr>
        <p:blipFill>
          <a:blip r:embed="rId3"/>
          <a:stretch>
            <a:fillRect/>
          </a:stretch>
        </p:blipFill>
        <p:spPr>
          <a:xfrm>
            <a:off x="807164" y="2259524"/>
            <a:ext cx="3568883" cy="1917840"/>
          </a:xfrm>
          <a:prstGeom prst="rect">
            <a:avLst/>
          </a:prstGeom>
        </p:spPr>
      </p:pic>
      <p:sp>
        <p:nvSpPr>
          <p:cNvPr id="6" name="TextBox 5">
            <a:extLst>
              <a:ext uri="{FF2B5EF4-FFF2-40B4-BE49-F238E27FC236}">
                <a16:creationId xmlns:a16="http://schemas.microsoft.com/office/drawing/2014/main" id="{5944D4A5-391E-4261-A069-8C5B42E2E9E9}"/>
              </a:ext>
            </a:extLst>
          </p:cNvPr>
          <p:cNvSpPr txBox="1"/>
          <p:nvPr/>
        </p:nvSpPr>
        <p:spPr>
          <a:xfrm>
            <a:off x="809740" y="4638842"/>
            <a:ext cx="8334260" cy="1200329"/>
          </a:xfrm>
          <a:prstGeom prst="rect">
            <a:avLst/>
          </a:prstGeom>
          <a:noFill/>
        </p:spPr>
        <p:txBody>
          <a:bodyPr wrap="square" rtlCol="0">
            <a:spAutoFit/>
          </a:bodyPr>
          <a:lstStyle/>
          <a:p>
            <a:r>
              <a:rPr lang="en-GB" dirty="0"/>
              <a:t>This graph shows the distribution of rainfall values in the dataset. It helps understand how frequently different rainfall ranges occur and whether the rainfall data is concentrated around particular values or spread across a wide range.</a:t>
            </a:r>
            <a:endParaRPr lang="en-IN" dirty="0"/>
          </a:p>
        </p:txBody>
      </p:sp>
      <p:pic>
        <p:nvPicPr>
          <p:cNvPr id="11" name="Picture 10">
            <a:extLst>
              <a:ext uri="{FF2B5EF4-FFF2-40B4-BE49-F238E27FC236}">
                <a16:creationId xmlns:a16="http://schemas.microsoft.com/office/drawing/2014/main" id="{D1A1AE56-4AA2-4E5E-BFBA-0FFFF44712A9}"/>
              </a:ext>
            </a:extLst>
          </p:cNvPr>
          <p:cNvPicPr>
            <a:picLocks noChangeAspect="1"/>
          </p:cNvPicPr>
          <p:nvPr/>
        </p:nvPicPr>
        <p:blipFill>
          <a:blip r:embed="rId4"/>
          <a:stretch>
            <a:fillRect/>
          </a:stretch>
        </p:blipFill>
        <p:spPr>
          <a:xfrm>
            <a:off x="5082302" y="2008602"/>
            <a:ext cx="4494835" cy="241968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5288836" cy="477520"/>
          </a:xfrm>
        </p:spPr>
        <p:txBody>
          <a:bodyPr>
            <a:noAutofit/>
          </a:bodyPr>
          <a:lstStyle/>
          <a:p>
            <a:pPr marL="0" indent="0">
              <a:buNone/>
            </a:pPr>
            <a:r>
              <a:rPr lang="en-IN" dirty="0"/>
              <a:t>4. </a:t>
            </a:r>
            <a:r>
              <a:rPr lang="en-GB" dirty="0"/>
              <a:t>Yield Distribution and Potential Outliers:</a:t>
            </a:r>
            <a:endParaRPr lang="en-IN" dirty="0"/>
          </a:p>
        </p:txBody>
      </p:sp>
      <p:pic>
        <p:nvPicPr>
          <p:cNvPr id="3" name="Picture 2">
            <a:extLst>
              <a:ext uri="{FF2B5EF4-FFF2-40B4-BE49-F238E27FC236}">
                <a16:creationId xmlns:a16="http://schemas.microsoft.com/office/drawing/2014/main" id="{C17DEE0D-CEDC-481B-B648-BCA6401320BC}"/>
              </a:ext>
            </a:extLst>
          </p:cNvPr>
          <p:cNvPicPr>
            <a:picLocks noChangeAspect="1"/>
          </p:cNvPicPr>
          <p:nvPr/>
        </p:nvPicPr>
        <p:blipFill>
          <a:blip r:embed="rId3"/>
          <a:stretch>
            <a:fillRect/>
          </a:stretch>
        </p:blipFill>
        <p:spPr>
          <a:xfrm>
            <a:off x="807164" y="2236800"/>
            <a:ext cx="4254719" cy="1911688"/>
          </a:xfrm>
          <a:prstGeom prst="rect">
            <a:avLst/>
          </a:prstGeom>
        </p:spPr>
      </p:pic>
      <p:sp>
        <p:nvSpPr>
          <p:cNvPr id="6" name="TextBox 5">
            <a:extLst>
              <a:ext uri="{FF2B5EF4-FFF2-40B4-BE49-F238E27FC236}">
                <a16:creationId xmlns:a16="http://schemas.microsoft.com/office/drawing/2014/main" id="{54CB1F3D-1146-4165-AE43-71A3D29BEE1C}"/>
              </a:ext>
            </a:extLst>
          </p:cNvPr>
          <p:cNvSpPr txBox="1"/>
          <p:nvPr/>
        </p:nvSpPr>
        <p:spPr>
          <a:xfrm>
            <a:off x="675957" y="4696594"/>
            <a:ext cx="6073541" cy="1200329"/>
          </a:xfrm>
          <a:prstGeom prst="rect">
            <a:avLst/>
          </a:prstGeom>
          <a:noFill/>
        </p:spPr>
        <p:txBody>
          <a:bodyPr wrap="square" rtlCol="0">
            <a:spAutoFit/>
          </a:bodyPr>
          <a:lstStyle/>
          <a:p>
            <a:r>
              <a:rPr lang="en-GB" dirty="0"/>
              <a:t>This boxplot shows the distribution of crop yield and identifies potential outliers. The extreme values indicate that some farms have unusually high or low yields, showing variation in agricultural productivity.</a:t>
            </a:r>
            <a:endParaRPr lang="en-IN" dirty="0"/>
          </a:p>
        </p:txBody>
      </p:sp>
      <p:pic>
        <p:nvPicPr>
          <p:cNvPr id="11" name="Picture 10">
            <a:extLst>
              <a:ext uri="{FF2B5EF4-FFF2-40B4-BE49-F238E27FC236}">
                <a16:creationId xmlns:a16="http://schemas.microsoft.com/office/drawing/2014/main" id="{AF96CB5C-B5DF-402B-947E-EFFE35AA8A1B}"/>
              </a:ext>
            </a:extLst>
          </p:cNvPr>
          <p:cNvPicPr>
            <a:picLocks noChangeAspect="1"/>
          </p:cNvPicPr>
          <p:nvPr/>
        </p:nvPicPr>
        <p:blipFill>
          <a:blip r:embed="rId4"/>
          <a:stretch>
            <a:fillRect/>
          </a:stretch>
        </p:blipFill>
        <p:spPr>
          <a:xfrm>
            <a:off x="5575080" y="2065535"/>
            <a:ext cx="4254719" cy="221770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IN" dirty="0"/>
              <a:t>5. Rainfall vs Yield</a:t>
            </a:r>
          </a:p>
        </p:txBody>
      </p:sp>
      <p:pic>
        <p:nvPicPr>
          <p:cNvPr id="3" name="Picture 2">
            <a:extLst>
              <a:ext uri="{FF2B5EF4-FFF2-40B4-BE49-F238E27FC236}">
                <a16:creationId xmlns:a16="http://schemas.microsoft.com/office/drawing/2014/main" id="{A65AE93E-09F6-4C7E-8878-5AFD3A5E04A9}"/>
              </a:ext>
            </a:extLst>
          </p:cNvPr>
          <p:cNvPicPr>
            <a:picLocks noChangeAspect="1"/>
          </p:cNvPicPr>
          <p:nvPr/>
        </p:nvPicPr>
        <p:blipFill>
          <a:blip r:embed="rId3"/>
          <a:stretch>
            <a:fillRect/>
          </a:stretch>
        </p:blipFill>
        <p:spPr>
          <a:xfrm>
            <a:off x="807164" y="2165685"/>
            <a:ext cx="5416828" cy="1969880"/>
          </a:xfrm>
          <a:prstGeom prst="rect">
            <a:avLst/>
          </a:prstGeom>
        </p:spPr>
      </p:pic>
      <p:sp>
        <p:nvSpPr>
          <p:cNvPr id="6" name="TextBox 5">
            <a:extLst>
              <a:ext uri="{FF2B5EF4-FFF2-40B4-BE49-F238E27FC236}">
                <a16:creationId xmlns:a16="http://schemas.microsoft.com/office/drawing/2014/main" id="{CBA6D206-3FDA-4B5F-8C68-E2EB11A1012F}"/>
              </a:ext>
            </a:extLst>
          </p:cNvPr>
          <p:cNvSpPr txBox="1"/>
          <p:nvPr/>
        </p:nvSpPr>
        <p:spPr>
          <a:xfrm>
            <a:off x="675957" y="4621589"/>
            <a:ext cx="6939815" cy="1200329"/>
          </a:xfrm>
          <a:prstGeom prst="rect">
            <a:avLst/>
          </a:prstGeom>
          <a:noFill/>
        </p:spPr>
        <p:txBody>
          <a:bodyPr wrap="square" rtlCol="0">
            <a:spAutoFit/>
          </a:bodyPr>
          <a:lstStyle/>
          <a:p>
            <a:r>
              <a:rPr lang="en-GB" b="1" dirty="0"/>
              <a:t>Explanation:</a:t>
            </a:r>
            <a:br>
              <a:rPr lang="en-GB" dirty="0"/>
            </a:br>
            <a:r>
              <a:rPr lang="en-GB" dirty="0"/>
              <a:t>This graph shows the relationship between rainfall and crop yield. The distribution indicates that rainfall is one of the environmental factors associated with agricultural productivity.</a:t>
            </a:r>
            <a:endParaRPr lang="en-IN" dirty="0"/>
          </a:p>
        </p:txBody>
      </p:sp>
      <p:pic>
        <p:nvPicPr>
          <p:cNvPr id="11" name="Picture 10">
            <a:extLst>
              <a:ext uri="{FF2B5EF4-FFF2-40B4-BE49-F238E27FC236}">
                <a16:creationId xmlns:a16="http://schemas.microsoft.com/office/drawing/2014/main" id="{2C63497E-386A-489D-BFEC-B8EBBFB9D1F5}"/>
              </a:ext>
            </a:extLst>
          </p:cNvPr>
          <p:cNvPicPr>
            <a:picLocks noChangeAspect="1"/>
          </p:cNvPicPr>
          <p:nvPr/>
        </p:nvPicPr>
        <p:blipFill>
          <a:blip r:embed="rId4"/>
          <a:stretch>
            <a:fillRect/>
          </a:stretch>
        </p:blipFill>
        <p:spPr>
          <a:xfrm>
            <a:off x="6694785" y="2051741"/>
            <a:ext cx="3343561" cy="219776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Rectangle 4">
            <a:extLst>
              <a:ext uri="{FF2B5EF4-FFF2-40B4-BE49-F238E27FC236}">
                <a16:creationId xmlns:a16="http://schemas.microsoft.com/office/drawing/2014/main" id="{9227A5FE-A062-4914-8861-C478F87538F9}"/>
              </a:ext>
            </a:extLst>
          </p:cNvPr>
          <p:cNvSpPr>
            <a:spLocks noChangeArrowheads="1"/>
          </p:cNvSpPr>
          <p:nvPr/>
        </p:nvSpPr>
        <p:spPr bwMode="auto">
          <a:xfrm>
            <a:off x="675957" y="1275371"/>
            <a:ext cx="9831538"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FontTx/>
              <a:buChar char="•"/>
            </a:pPr>
            <a:r>
              <a:rPr lang="en-US" altLang="en-US">
                <a:latin typeface="+mj-lt"/>
              </a:rPr>
              <a:t>Use </a:t>
            </a:r>
            <a:r>
              <a:rPr lang="en-US" altLang="en-US" b="1">
                <a:latin typeface="+mj-lt"/>
              </a:rPr>
              <a:t>Machine Learning models</a:t>
            </a:r>
            <a:r>
              <a:rPr lang="en-US" altLang="en-US">
                <a:latin typeface="+mj-lt"/>
              </a:rPr>
              <a:t> to predict crop yield and profitability. </a:t>
            </a:r>
          </a:p>
          <a:p>
            <a:pPr lvl="0" defTabSz="914400" eaLnBrk="0" fontAlgn="base" hangingPunct="0">
              <a:lnSpc>
                <a:spcPct val="150000"/>
              </a:lnSpc>
              <a:spcBef>
                <a:spcPct val="0"/>
              </a:spcBef>
              <a:spcAft>
                <a:spcPct val="0"/>
              </a:spcAft>
              <a:buFontTx/>
              <a:buChar char="•"/>
            </a:pPr>
            <a:r>
              <a:rPr lang="en-US" altLang="en-US">
                <a:latin typeface="+mj-lt"/>
              </a:rPr>
              <a:t>Include </a:t>
            </a:r>
            <a:r>
              <a:rPr lang="en-US" altLang="en-US" b="1">
                <a:latin typeface="+mj-lt"/>
              </a:rPr>
              <a:t>real-time weather and market price data</a:t>
            </a:r>
            <a:r>
              <a:rPr lang="en-US" altLang="en-US">
                <a:latin typeface="+mj-lt"/>
              </a:rPr>
              <a:t> for more accurate analysis. </a:t>
            </a:r>
          </a:p>
          <a:p>
            <a:pPr lvl="0" defTabSz="914400" eaLnBrk="0" fontAlgn="base" hangingPunct="0">
              <a:lnSpc>
                <a:spcPct val="150000"/>
              </a:lnSpc>
              <a:spcBef>
                <a:spcPct val="0"/>
              </a:spcBef>
              <a:spcAft>
                <a:spcPct val="0"/>
              </a:spcAft>
              <a:buFontTx/>
              <a:buChar char="•"/>
            </a:pPr>
            <a:r>
              <a:rPr lang="en-US" altLang="en-US">
                <a:latin typeface="+mj-lt"/>
              </a:rPr>
              <a:t>Develop a </a:t>
            </a:r>
            <a:r>
              <a:rPr lang="en-US" altLang="en-US" b="1">
                <a:latin typeface="+mj-lt"/>
              </a:rPr>
              <a:t>web or mobile dashboard</a:t>
            </a:r>
            <a:r>
              <a:rPr lang="en-US" altLang="en-US">
                <a:latin typeface="+mj-lt"/>
              </a:rPr>
              <a:t> for farmers and agricultural organizations. </a:t>
            </a:r>
          </a:p>
          <a:p>
            <a:pPr lvl="0" defTabSz="914400" eaLnBrk="0" fontAlgn="base" hangingPunct="0">
              <a:lnSpc>
                <a:spcPct val="150000"/>
              </a:lnSpc>
              <a:spcBef>
                <a:spcPct val="0"/>
              </a:spcBef>
              <a:spcAft>
                <a:spcPct val="0"/>
              </a:spcAft>
              <a:buFontTx/>
              <a:buChar char="•"/>
            </a:pPr>
            <a:r>
              <a:rPr lang="en-US" altLang="en-US">
                <a:latin typeface="+mj-lt"/>
              </a:rPr>
              <a:t>Analyze a larger dataset covering more </a:t>
            </a:r>
            <a:r>
              <a:rPr lang="en-US" altLang="en-US" b="1">
                <a:latin typeface="+mj-lt"/>
              </a:rPr>
              <a:t>regions, crops, and seasons</a:t>
            </a:r>
            <a:r>
              <a:rPr lang="en-US" altLang="en-US">
                <a:latin typeface="+mj-lt"/>
              </a:rPr>
              <a:t>. </a:t>
            </a:r>
          </a:p>
          <a:p>
            <a:pPr lvl="0" defTabSz="914400" eaLnBrk="0" fontAlgn="base" hangingPunct="0">
              <a:lnSpc>
                <a:spcPct val="150000"/>
              </a:lnSpc>
              <a:spcBef>
                <a:spcPct val="0"/>
              </a:spcBef>
              <a:spcAft>
                <a:spcPct val="0"/>
              </a:spcAft>
              <a:buFontTx/>
              <a:buChar char="•"/>
            </a:pPr>
            <a:r>
              <a:rPr lang="en-US" altLang="en-US">
                <a:latin typeface="+mj-lt"/>
              </a:rPr>
              <a:t>Use the analysis to provide </a:t>
            </a:r>
            <a:r>
              <a:rPr lang="en-US" altLang="en-US" b="1">
                <a:latin typeface="+mj-lt"/>
              </a:rPr>
              <a:t>crop recommendations and water management suggestions</a:t>
            </a:r>
            <a:r>
              <a:rPr lang="en-US" altLang="en-US">
                <a:latin typeface="+mj-lt"/>
              </a:rPr>
              <a:t>. </a:t>
            </a:r>
            <a:endParaRPr lang="en-US" altLang="en-US" dirty="0">
              <a:latin typeface="+mj-lt"/>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4D15AA9-C5B9-4768-B561-EE9E4405CA37}"/>
              </a:ext>
            </a:extLst>
          </p:cNvPr>
          <p:cNvSpPr txBox="1"/>
          <p:nvPr/>
        </p:nvSpPr>
        <p:spPr>
          <a:xfrm>
            <a:off x="675957" y="2202613"/>
            <a:ext cx="6874846" cy="646331"/>
          </a:xfrm>
          <a:prstGeom prst="rect">
            <a:avLst/>
          </a:prstGeom>
          <a:noFill/>
        </p:spPr>
        <p:txBody>
          <a:bodyPr wrap="square" rtlCol="0">
            <a:spAutoFit/>
          </a:bodyPr>
          <a:lstStyle/>
          <a:p>
            <a:r>
              <a:rPr lang="en-IN" dirty="0"/>
              <a:t>https://github.com/rakshitashetti32/Seasonal-Agricultural-Performance-Analysis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975895D-698C-4285-B06A-D76A4C0F0F47}"/>
              </a:ext>
            </a:extLst>
          </p:cNvPr>
          <p:cNvPicPr>
            <a:picLocks noChangeAspect="1"/>
          </p:cNvPicPr>
          <p:nvPr/>
        </p:nvPicPr>
        <p:blipFill>
          <a:blip r:embed="rId3"/>
          <a:stretch>
            <a:fillRect/>
          </a:stretch>
        </p:blipFill>
        <p:spPr>
          <a:xfrm>
            <a:off x="1747519" y="1513580"/>
            <a:ext cx="7088473" cy="47653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1650</TotalTime>
  <Words>586</Words>
  <Application>Microsoft Office PowerPoint</Application>
  <PresentationFormat>Widescreen</PresentationFormat>
  <Paragraphs>51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rakshita shetti</cp:lastModifiedBy>
  <cp:revision>112</cp:revision>
  <dcterms:created xsi:type="dcterms:W3CDTF">2021-07-11T13:13:15Z</dcterms:created>
  <dcterms:modified xsi:type="dcterms:W3CDTF">2026-09-08T18:38:58Z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